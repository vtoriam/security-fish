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</p:sldMasterIdLst>
  <p:notesMasterIdLst>
    <p:notesMasterId r:id="rId16"/>
  </p:notesMasterIdLst>
  <p:handoutMasterIdLst>
    <p:handoutMasterId r:id="rId17"/>
  </p:handoutMasterIdLst>
  <p:sldIdLst>
    <p:sldId id="1497" r:id="rId5"/>
    <p:sldId id="1514" r:id="rId6"/>
    <p:sldId id="1515" r:id="rId7"/>
    <p:sldId id="1499" r:id="rId8"/>
    <p:sldId id="1516" r:id="rId9"/>
    <p:sldId id="1518" r:id="rId10"/>
    <p:sldId id="1519" r:id="rId11"/>
    <p:sldId id="1506" r:id="rId12"/>
    <p:sldId id="1508" r:id="rId13"/>
    <p:sldId id="1520" r:id="rId14"/>
    <p:sldId id="15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80107" autoAdjust="0"/>
  </p:normalViewPr>
  <p:slideViewPr>
    <p:cSldViewPr snapToGrid="0">
      <p:cViewPr>
        <p:scale>
          <a:sx n="65" d="100"/>
          <a:sy n="65" d="100"/>
        </p:scale>
        <p:origin x="672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Mok (24790172)" userId="7af21965-2f5b-440f-a85b-c02bca6320fe" providerId="ADAL" clId="{58037EE4-7D28-4057-8D9D-A0697518ECD3}"/>
    <pc:docChg chg="modSld">
      <pc:chgData name="Victoria Mok (24790172)" userId="7af21965-2f5b-440f-a85b-c02bca6320fe" providerId="ADAL" clId="{58037EE4-7D28-4057-8D9D-A0697518ECD3}" dt="2026-03-30T15:10:22.180" v="20" actId="20577"/>
      <pc:docMkLst>
        <pc:docMk/>
      </pc:docMkLst>
      <pc:sldChg chg="modSp mod">
        <pc:chgData name="Victoria Mok (24790172)" userId="7af21965-2f5b-440f-a85b-c02bca6320fe" providerId="ADAL" clId="{58037EE4-7D28-4057-8D9D-A0697518ECD3}" dt="2026-03-30T15:10:22.180" v="20" actId="20577"/>
        <pc:sldMkLst>
          <pc:docMk/>
          <pc:sldMk cId="1751885377" sldId="1499"/>
        </pc:sldMkLst>
        <pc:spChg chg="mod">
          <ac:chgData name="Victoria Mok (24790172)" userId="7af21965-2f5b-440f-a85b-c02bca6320fe" providerId="ADAL" clId="{58037EE4-7D28-4057-8D9D-A0697518ECD3}" dt="2026-03-30T15:10:22.180" v="20" actId="20577"/>
          <ac:spMkLst>
            <pc:docMk/>
            <pc:sldMk cId="1751885377" sldId="1499"/>
            <ac:spMk id="2" creationId="{1ECC7084-C959-6935-0D99-455326A78F99}"/>
          </ac:spMkLst>
        </pc:spChg>
      </pc:sldChg>
      <pc:sldChg chg="modNotesTx">
        <pc:chgData name="Victoria Mok (24790172)" userId="7af21965-2f5b-440f-a85b-c02bca6320fe" providerId="ADAL" clId="{58037EE4-7D28-4057-8D9D-A0697518ECD3}" dt="2026-03-30T15:10:10.309" v="0" actId="20577"/>
        <pc:sldMkLst>
          <pc:docMk/>
          <pc:sldMk cId="1566291291" sldId="15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"You're the IT admin for a university. Thousands of users, dozens of systems — how do you decide who gets access to what?“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56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control is </a:t>
            </a:r>
            <a:r>
              <a:rPr lang="en-US" dirty="0"/>
              <a:t>a security technique that regulates who or what can view, use, or enter digital and physical resources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acts as a gatekeeper, protecting sensitive information and physical spaces by verifying identities (authentication) and granting appropriate permissions (authorization) to authorized users, devices, or systems.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83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it is:</a:t>
            </a:r>
            <a:r>
              <a:rPr lang="en-US" dirty="0"/>
              <a:t> The owner of a resource decides who can access it, flexible</a:t>
            </a:r>
          </a:p>
          <a:p>
            <a:r>
              <a:rPr lang="en-US" b="1" dirty="0"/>
              <a:t>Analogy:</a:t>
            </a:r>
            <a:r>
              <a:rPr lang="en-US" dirty="0"/>
              <a:t> You sharing a Google Doc - you choose who gets view or edit access </a:t>
            </a:r>
          </a:p>
          <a:p>
            <a:r>
              <a:rPr lang="en-US" b="1" dirty="0"/>
              <a:t>University example:</a:t>
            </a:r>
            <a:r>
              <a:rPr lang="en-US" dirty="0"/>
              <a:t> A lecturer grants two PhD students access to their research folder </a:t>
            </a:r>
          </a:p>
          <a:p>
            <a:r>
              <a:rPr lang="en-US" b="1" dirty="0"/>
              <a:t>Risk:</a:t>
            </a:r>
            <a:r>
              <a:rPr lang="en-US" dirty="0"/>
              <a:t> Relies on the owner making good decisions - humans can make mistakes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22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0CF30-059B-8829-69E7-F7E2B01E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18529-F323-3CBF-24AF-D7577AF32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AFC82-371B-4918-011D-6B994429D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it is:</a:t>
            </a:r>
            <a:r>
              <a:rPr lang="en-US" dirty="0"/>
              <a:t> Access is set by a central policy - the owner has no say, strict and uniform (also known as MAC)</a:t>
            </a:r>
          </a:p>
          <a:p>
            <a:r>
              <a:rPr lang="en-US" b="1" dirty="0"/>
              <a:t>Analogy:</a:t>
            </a:r>
            <a:r>
              <a:rPr lang="en-US" dirty="0"/>
              <a:t> A government security clearance - you can't just "share" classified documents with a friend </a:t>
            </a:r>
          </a:p>
          <a:p>
            <a:r>
              <a:rPr lang="en-US" b="1" dirty="0"/>
              <a:t>University example:</a:t>
            </a:r>
            <a:r>
              <a:rPr lang="en-US" dirty="0"/>
              <a:t> Only HR staff can access payroll, no matter what a manager requests </a:t>
            </a:r>
          </a:p>
          <a:p>
            <a:r>
              <a:rPr lang="en-US" b="1" dirty="0"/>
              <a:t>Strength:</a:t>
            </a:r>
            <a:r>
              <a:rPr lang="en-US" dirty="0"/>
              <a:t> Consistent, policy-driven, harder to misuse</a:t>
            </a:r>
          </a:p>
          <a:p>
            <a:endParaRPr lang="en-US" dirty="0"/>
          </a:p>
          <a:p>
            <a:r>
              <a:rPr lang="en-US" dirty="0">
                <a:effectLst/>
              </a:rPr>
              <a:t>Time-Based Access Control (Context-Based)</a:t>
            </a:r>
          </a:p>
          <a:p>
            <a:r>
              <a:rPr lang="en-US" dirty="0">
                <a:effectLst/>
              </a:rPr>
              <a:t>- Time-limits </a:t>
            </a:r>
            <a:r>
              <a:rPr lang="en-US" dirty="0" err="1">
                <a:effectLst/>
              </a:rPr>
              <a:t>eg.</a:t>
            </a:r>
            <a:r>
              <a:rPr lang="en-US" dirty="0">
                <a:effectLst/>
              </a:rPr>
              <a:t> configuration change)</a:t>
            </a:r>
          </a:p>
          <a:p>
            <a:r>
              <a:rPr lang="en-US" dirty="0">
                <a:effectLst/>
              </a:rPr>
              <a:t>- Role-based ⇒ employee time at company, after they leave how long to keep their privileges and data etc.</a:t>
            </a:r>
          </a:p>
          <a:p>
            <a:r>
              <a:rPr lang="en-US" dirty="0">
                <a:effectLst/>
              </a:rPr>
              <a:t>Label-Based Access Control (Content-Based)</a:t>
            </a:r>
          </a:p>
          <a:p>
            <a:r>
              <a:rPr lang="en-US" dirty="0">
                <a:effectLst/>
              </a:rPr>
              <a:t>- Sensitivity labels</a:t>
            </a:r>
          </a:p>
          <a:p>
            <a:r>
              <a:rPr lang="en-US" dirty="0">
                <a:effectLst/>
              </a:rPr>
              <a:t>- Clearance</a:t>
            </a:r>
          </a:p>
          <a:p>
            <a:r>
              <a:rPr lang="en-US" dirty="0">
                <a:effectLst/>
              </a:rPr>
              <a:t>Attribute-Based Access Control (Context-Based)</a:t>
            </a:r>
          </a:p>
          <a:p>
            <a:r>
              <a:rPr lang="en-US" dirty="0">
                <a:effectLst/>
              </a:rPr>
              <a:t>- Based on attribute of the subject</a:t>
            </a:r>
          </a:p>
          <a:p>
            <a:r>
              <a:rPr lang="en-US" dirty="0">
                <a:effectLst/>
              </a:rPr>
              <a:t>- Attributes can be department, location etc.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7360A-D2EE-F976-FDE9-0DA71367D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33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B1DE-900D-FE72-A05F-DAEC6CD0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D13AD-ECDB-62DE-338E-70A9307B1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E465C-83D7-669B-80B7-8FB6CC1B5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it is:</a:t>
            </a:r>
            <a:r>
              <a:rPr lang="en-US" dirty="0"/>
              <a:t> The overarching system that manages </a:t>
            </a:r>
            <a:r>
              <a:rPr lang="en-US" i="1" dirty="0"/>
              <a:t>who people are</a:t>
            </a:r>
            <a:r>
              <a:rPr lang="en-US" dirty="0"/>
              <a:t> and </a:t>
            </a:r>
            <a:r>
              <a:rPr lang="en-US" i="1" dirty="0"/>
              <a:t>what they're allowed to do, </a:t>
            </a:r>
            <a:r>
              <a:rPr lang="en-US" dirty="0"/>
              <a:t>Directory is created and maintained </a:t>
            </a:r>
          </a:p>
          <a:p>
            <a:r>
              <a:rPr lang="en-US" b="1" dirty="0"/>
              <a:t>Analogy:</a:t>
            </a:r>
            <a:r>
              <a:rPr lang="en-US" dirty="0"/>
              <a:t> Your university account - when you </a:t>
            </a:r>
            <a:r>
              <a:rPr lang="en-US" dirty="0" err="1"/>
              <a:t>enrol</a:t>
            </a:r>
            <a:r>
              <a:rPr lang="en-US" dirty="0"/>
              <a:t>, you automatically get student email, portal access, library access, but NOT staff systems </a:t>
            </a:r>
          </a:p>
          <a:p>
            <a:r>
              <a:rPr lang="en-US" b="1" dirty="0"/>
              <a:t>Key features:</a:t>
            </a:r>
            <a:r>
              <a:rPr lang="en-US" dirty="0"/>
              <a:t> User provisioning, role-based access, single sign-on, audit logs </a:t>
            </a:r>
          </a:p>
          <a:p>
            <a:r>
              <a:rPr lang="en-US" b="1" dirty="0"/>
              <a:t>Think of it as:</a:t>
            </a:r>
            <a:r>
              <a:rPr lang="en-US" dirty="0"/>
              <a:t> The engine that runs DAC and MAC at scale</a:t>
            </a:r>
          </a:p>
          <a:p>
            <a:endParaRPr lang="en-US" dirty="0"/>
          </a:p>
          <a:p>
            <a:r>
              <a:rPr lang="en-US" dirty="0">
                <a:effectLst/>
              </a:rPr>
              <a:t>Initial claim or proof (registration)</a:t>
            </a:r>
          </a:p>
          <a:p>
            <a:r>
              <a:rPr lang="en-US" dirty="0">
                <a:effectLst/>
              </a:rPr>
              <a:t>- A user has to prove who they are</a:t>
            </a:r>
          </a:p>
          <a:p>
            <a:r>
              <a:rPr lang="en-US" dirty="0">
                <a:effectLst/>
              </a:rPr>
              <a:t>- Create an </a:t>
            </a:r>
            <a:r>
              <a:rPr lang="en-US" dirty="0" err="1">
                <a:effectLst/>
              </a:rPr>
              <a:t>authorise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Monitor and review</a:t>
            </a:r>
          </a:p>
          <a:p>
            <a:r>
              <a:rPr lang="en-US" dirty="0">
                <a:effectLst/>
              </a:rPr>
              <a:t>Revocation</a:t>
            </a:r>
          </a:p>
          <a:p>
            <a:r>
              <a:rPr lang="en-US" dirty="0">
                <a:effectLst/>
              </a:rPr>
              <a:t>Delete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FEC8A-8C6E-EF90-CEBA-AE7727EAA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859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Authentication uses three factors.</a:t>
            </a:r>
          </a:p>
          <a:p>
            <a:pPr marL="171450" indent="-171450">
              <a:buFontTx/>
              <a:buChar char="-"/>
            </a:pPr>
            <a:r>
              <a:rPr lang="en-US" dirty="0"/>
              <a:t>Something you </a:t>
            </a:r>
            <a:r>
              <a:rPr lang="en-US" b="1" dirty="0"/>
              <a:t>know</a:t>
            </a:r>
            <a:r>
              <a:rPr lang="en-US" dirty="0"/>
              <a:t> - password, PIN </a:t>
            </a:r>
          </a:p>
          <a:p>
            <a:pPr marL="171450" indent="-171450">
              <a:buFontTx/>
              <a:buChar char="-"/>
            </a:pPr>
            <a:r>
              <a:rPr lang="en-US" dirty="0"/>
              <a:t>Something you </a:t>
            </a:r>
            <a:r>
              <a:rPr lang="en-US" b="1" dirty="0"/>
              <a:t>have</a:t>
            </a:r>
            <a:r>
              <a:rPr lang="en-US" dirty="0"/>
              <a:t> - phone, security key </a:t>
            </a:r>
          </a:p>
          <a:p>
            <a:pPr marL="171450" indent="-171450">
              <a:buFontTx/>
              <a:buChar char="-"/>
            </a:pPr>
            <a:r>
              <a:rPr lang="en-US" dirty="0"/>
              <a:t>Something you </a:t>
            </a:r>
            <a:r>
              <a:rPr lang="en-US" b="1" dirty="0"/>
              <a:t>are</a:t>
            </a:r>
            <a:r>
              <a:rPr lang="en-US" dirty="0"/>
              <a:t> - fingerprint, face scan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MFA ⇒ any two or three of the factors</a:t>
            </a:r>
          </a:p>
          <a:p>
            <a:r>
              <a:rPr lang="en-US" dirty="0">
                <a:effectLst/>
              </a:rPr>
              <a:t>- Using a password and a smartcard</a:t>
            </a:r>
          </a:p>
          <a:p>
            <a:r>
              <a:rPr lang="en-US" dirty="0">
                <a:effectLst/>
              </a:rPr>
              <a:t>NOT MFA ⇒ using a fingerprint scan and facial recognition, two passwords</a:t>
            </a:r>
          </a:p>
          <a:p>
            <a:r>
              <a:rPr lang="en-US" b="1" dirty="0"/>
              <a:t>University example:</a:t>
            </a:r>
            <a:r>
              <a:rPr lang="en-US" dirty="0"/>
              <a:t> Logging into the student portal with your password + an SMS code sent to your phone </a:t>
            </a:r>
          </a:p>
          <a:p>
            <a:r>
              <a:rPr lang="en-US" b="1" dirty="0"/>
              <a:t>Why it matters:</a:t>
            </a:r>
            <a:r>
              <a:rPr lang="en-US" dirty="0"/>
              <a:t> Even if your password is stolen, an attacker still can't get in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An authentication mechanism that allows a single identity to be shared across multiple applications. It allows a user to authenticate once and gain access to multiple resources or even multiple platforms</a:t>
            </a:r>
          </a:p>
          <a:p>
            <a:r>
              <a:rPr lang="en-US" dirty="0">
                <a:effectLst/>
              </a:rPr>
              <a:t>- Google (email, </a:t>
            </a:r>
            <a:r>
              <a:rPr lang="en-US" dirty="0" err="1">
                <a:effectLst/>
              </a:rPr>
              <a:t>Youtube</a:t>
            </a:r>
            <a:r>
              <a:rPr lang="en-US" dirty="0">
                <a:effectLst/>
              </a:rPr>
              <a:t>, Google Drive)</a:t>
            </a:r>
          </a:p>
          <a:p>
            <a:r>
              <a:rPr lang="en-US" dirty="0">
                <a:effectLst/>
              </a:rPr>
              <a:t>- Microsoft Office</a:t>
            </a:r>
          </a:p>
          <a:p>
            <a:r>
              <a:rPr lang="en-US" dirty="0">
                <a:effectLst/>
              </a:rPr>
              <a:t>- Meta</a:t>
            </a:r>
          </a:p>
          <a:p>
            <a:r>
              <a:rPr lang="en-US" dirty="0">
                <a:effectLst/>
              </a:rPr>
              <a:t>MFA can always be combined with SSO</a:t>
            </a:r>
          </a:p>
          <a:p>
            <a:r>
              <a:rPr lang="en-US" b="1" dirty="0"/>
              <a:t>Analogy:</a:t>
            </a:r>
            <a:r>
              <a:rPr lang="en-US" dirty="0"/>
              <a:t> Your university login - one set of credentials gets you into email, the student portal, the library system, and more </a:t>
            </a:r>
          </a:p>
          <a:p>
            <a:r>
              <a:rPr lang="en-US" b="1" dirty="0"/>
              <a:t>Benefit:</a:t>
            </a:r>
            <a:r>
              <a:rPr lang="en-US" dirty="0"/>
              <a:t> Convenient for users, and easier for IT to manage and revoke access centrally </a:t>
            </a:r>
          </a:p>
          <a:p>
            <a:r>
              <a:rPr lang="en-US" b="1" dirty="0"/>
              <a:t>Trade-off:</a:t>
            </a:r>
            <a:r>
              <a:rPr lang="en-US" dirty="0"/>
              <a:t> If that one login is compromised, it opens multiple doors - which is why SSO is almost always paired with MFA</a:t>
            </a:r>
            <a:endParaRPr lang="en-US" dirty="0">
              <a:effectLst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921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 anchor="t"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28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EF4EF1-D9A3-1B4B-824F-63DEB13C7D3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6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138372"/>
            <a:ext cx="10923934" cy="408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8624-D4B9-7C44-BA3F-B13CDFB276D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7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9478" y="632192"/>
            <a:ext cx="4328486" cy="372776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7" y="4728526"/>
            <a:ext cx="4328487" cy="14944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1856D-4088-6C7C-747C-BFC6B595D2C7}"/>
              </a:ext>
            </a:extLst>
          </p:cNvPr>
          <p:cNvSpPr/>
          <p:nvPr userDrawn="1"/>
        </p:nvSpPr>
        <p:spPr>
          <a:xfrm>
            <a:off x="634036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86">
            <a:extLst>
              <a:ext uri="{FF2B5EF4-FFF2-40B4-BE49-F238E27FC236}">
                <a16:creationId xmlns:a16="http://schemas.microsoft.com/office/drawing/2014/main" id="{4C2DEE60-7B9C-F5F8-C631-1BBA2E094F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2DEFB05-7E9F-904D-9899-4BFD23D3117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3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4328068" cy="3346768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328068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AD1B2-D3AF-262A-9F39-408298341F3B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86">
            <a:extLst>
              <a:ext uri="{FF2B5EF4-FFF2-40B4-BE49-F238E27FC236}">
                <a16:creationId xmlns:a16="http://schemas.microsoft.com/office/drawing/2014/main" id="{84DED33C-5879-E539-4CEC-E4EBF6E330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253768E5-88AD-F345-813B-E822455F98B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99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7538424" cy="3346767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353868"/>
            <a:ext cx="7538424" cy="18691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8D7-4720-D141-81CC-740F79D50C3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2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634999"/>
            <a:ext cx="7514087" cy="3727767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743766"/>
            <a:ext cx="7514087" cy="111347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E768-21C6-CE4B-B654-E1D0DDCC05F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56409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3" y="4362765"/>
            <a:ext cx="7924802" cy="1112519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D13D-5B61-AA42-A678-BA823C019B3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3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raphic 73">
            <a:extLst>
              <a:ext uri="{FF2B5EF4-FFF2-40B4-BE49-F238E27FC236}">
                <a16:creationId xmlns:a16="http://schemas.microsoft.com/office/drawing/2014/main" id="{234E1407-29E4-7E4C-3151-4DB2B1D49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1680" y="634999"/>
            <a:ext cx="5736284" cy="5590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 anchor="t">
            <a:noAutofit/>
          </a:bodyPr>
          <a:lstStyle>
            <a:lvl1pPr marL="0" indent="0" algn="l">
              <a:buNone/>
              <a:defRPr sz="1800" b="1" i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419B-7218-144B-AE0A-3AE9A5E7F34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6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raphic 61">
            <a:extLst>
              <a:ext uri="{FF2B5EF4-FFF2-40B4-BE49-F238E27FC236}">
                <a16:creationId xmlns:a16="http://schemas.microsoft.com/office/drawing/2014/main" id="{0A63388B-7024-A217-D604-87110EA803E6}"/>
              </a:ext>
            </a:extLst>
          </p:cNvPr>
          <p:cNvSpPr/>
          <p:nvPr userDrawn="1"/>
        </p:nvSpPr>
        <p:spPr>
          <a:xfrm>
            <a:off x="5821681" y="631232"/>
            <a:ext cx="6370320" cy="5591768"/>
          </a:xfrm>
          <a:custGeom>
            <a:avLst/>
            <a:gdLst>
              <a:gd name="connsiteX0" fmla="*/ 6286503 w 6286503"/>
              <a:gd name="connsiteY0" fmla="*/ 0 h 5591768"/>
              <a:gd name="connsiteX1" fmla="*/ 0 w 6286503"/>
              <a:gd name="connsiteY1" fmla="*/ 0 h 5591768"/>
              <a:gd name="connsiteX2" fmla="*/ 0 w 6286503"/>
              <a:gd name="connsiteY2" fmla="*/ 5591768 h 5591768"/>
              <a:gd name="connsiteX3" fmla="*/ 6286503 w 6286503"/>
              <a:gd name="connsiteY3" fmla="*/ 5591768 h 5591768"/>
              <a:gd name="connsiteX4" fmla="*/ 6286503 w 6286503"/>
              <a:gd name="connsiteY4" fmla="*/ 4960502 h 5591768"/>
              <a:gd name="connsiteX5" fmla="*/ 5839978 w 6286503"/>
              <a:gd name="connsiteY5" fmla="*/ 2806305 h 5591768"/>
              <a:gd name="connsiteX6" fmla="*/ 4938995 w 6286503"/>
              <a:gd name="connsiteY6" fmla="*/ 4962694 h 5591768"/>
              <a:gd name="connsiteX7" fmla="*/ 4038005 w 6286503"/>
              <a:gd name="connsiteY7" fmla="*/ 2795884 h 5591768"/>
              <a:gd name="connsiteX8" fmla="*/ 4938995 w 6286503"/>
              <a:gd name="connsiteY8" fmla="*/ 629074 h 5591768"/>
              <a:gd name="connsiteX9" fmla="*/ 5839978 w 6286503"/>
              <a:gd name="connsiteY9" fmla="*/ 2785463 h 5591768"/>
              <a:gd name="connsiteX10" fmla="*/ 6286503 w 6286503"/>
              <a:gd name="connsiteY10" fmla="*/ 631266 h 5591768"/>
              <a:gd name="connsiteX11" fmla="*/ 6286503 w 6286503"/>
              <a:gd name="connsiteY11" fmla="*/ 0 h 5591768"/>
              <a:gd name="connsiteX12" fmla="*/ 4037967 w 6286503"/>
              <a:gd name="connsiteY12" fmla="*/ 2795884 h 5591768"/>
              <a:gd name="connsiteX13" fmla="*/ 2612709 w 6286503"/>
              <a:gd name="connsiteY13" fmla="*/ 4962694 h 5591768"/>
              <a:gd name="connsiteX14" fmla="*/ 1187451 w 6286503"/>
              <a:gd name="connsiteY14" fmla="*/ 2795884 h 5591768"/>
              <a:gd name="connsiteX15" fmla="*/ 2612709 w 6286503"/>
              <a:gd name="connsiteY15" fmla="*/ 629074 h 5591768"/>
              <a:gd name="connsiteX16" fmla="*/ 4037967 w 6286503"/>
              <a:gd name="connsiteY16" fmla="*/ 2795884 h 559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286503" h="5591768">
                <a:moveTo>
                  <a:pt x="6286503" y="0"/>
                </a:moveTo>
                <a:lnTo>
                  <a:pt x="0" y="0"/>
                </a:lnTo>
                <a:lnTo>
                  <a:pt x="0" y="5591768"/>
                </a:lnTo>
                <a:lnTo>
                  <a:pt x="6286503" y="5591768"/>
                </a:lnTo>
                <a:lnTo>
                  <a:pt x="6286503" y="4960502"/>
                </a:lnTo>
                <a:cubicBezTo>
                  <a:pt x="6038758" y="4909248"/>
                  <a:pt x="5841152" y="3965294"/>
                  <a:pt x="5839978" y="2806305"/>
                </a:cubicBezTo>
                <a:cubicBezTo>
                  <a:pt x="5837641" y="3998210"/>
                  <a:pt x="5435152" y="4962694"/>
                  <a:pt x="4938995" y="4962694"/>
                </a:cubicBezTo>
                <a:cubicBezTo>
                  <a:pt x="4441396" y="4962694"/>
                  <a:pt x="4038005" y="3992580"/>
                  <a:pt x="4038005" y="2795884"/>
                </a:cubicBezTo>
                <a:cubicBezTo>
                  <a:pt x="4038005" y="1599189"/>
                  <a:pt x="4441396" y="629074"/>
                  <a:pt x="4938995" y="629074"/>
                </a:cubicBezTo>
                <a:cubicBezTo>
                  <a:pt x="5435152" y="629074"/>
                  <a:pt x="5837641" y="1593559"/>
                  <a:pt x="5839978" y="2785463"/>
                </a:cubicBezTo>
                <a:cubicBezTo>
                  <a:pt x="5841152" y="1626474"/>
                  <a:pt x="6038758" y="682520"/>
                  <a:pt x="6286503" y="631266"/>
                </a:cubicBezTo>
                <a:lnTo>
                  <a:pt x="6286503" y="0"/>
                </a:lnTo>
                <a:close/>
                <a:moveTo>
                  <a:pt x="4037967" y="2795884"/>
                </a:moveTo>
                <a:cubicBezTo>
                  <a:pt x="4037967" y="3992580"/>
                  <a:pt x="3399855" y="4962694"/>
                  <a:pt x="2612709" y="4962694"/>
                </a:cubicBezTo>
                <a:cubicBezTo>
                  <a:pt x="1825562" y="4962694"/>
                  <a:pt x="1187451" y="3992580"/>
                  <a:pt x="1187451" y="2795884"/>
                </a:cubicBezTo>
                <a:cubicBezTo>
                  <a:pt x="1187451" y="1599189"/>
                  <a:pt x="1825562" y="629074"/>
                  <a:pt x="2612709" y="629074"/>
                </a:cubicBezTo>
                <a:cubicBezTo>
                  <a:pt x="3399855" y="629074"/>
                  <a:pt x="4037967" y="1599189"/>
                  <a:pt x="4037967" y="2795884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9101-0A20-A644-B98A-5AAB72007147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3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C5D035A-BE15-109F-79F7-BD7B8ADBC513}"/>
              </a:ext>
            </a:extLst>
          </p:cNvPr>
          <p:cNvSpPr/>
          <p:nvPr userDrawn="1"/>
        </p:nvSpPr>
        <p:spPr>
          <a:xfrm>
            <a:off x="5821681" y="-5731"/>
            <a:ext cx="5736284" cy="6228731"/>
          </a:xfrm>
          <a:custGeom>
            <a:avLst/>
            <a:gdLst>
              <a:gd name="connsiteX0" fmla="*/ 2868142 w 5736284"/>
              <a:gd name="connsiteY0" fmla="*/ 634964 h 6228731"/>
              <a:gd name="connsiteX1" fmla="*/ 702690 w 5736284"/>
              <a:gd name="connsiteY1" fmla="*/ 1103204 h 6228731"/>
              <a:gd name="connsiteX2" fmla="*/ 2857727 w 5736284"/>
              <a:gd name="connsiteY2" fmla="*/ 1571436 h 6228731"/>
              <a:gd name="connsiteX3" fmla="*/ 702690 w 5736284"/>
              <a:gd name="connsiteY3" fmla="*/ 2473342 h 6228731"/>
              <a:gd name="connsiteX4" fmla="*/ 2868142 w 5736284"/>
              <a:gd name="connsiteY4" fmla="*/ 3375255 h 6228731"/>
              <a:gd name="connsiteX5" fmla="*/ 5033593 w 5736284"/>
              <a:gd name="connsiteY5" fmla="*/ 2473342 h 6228731"/>
              <a:gd name="connsiteX6" fmla="*/ 2878556 w 5736284"/>
              <a:gd name="connsiteY6" fmla="*/ 1571436 h 6228731"/>
              <a:gd name="connsiteX7" fmla="*/ 5033593 w 5736284"/>
              <a:gd name="connsiteY7" fmla="*/ 1103204 h 6228731"/>
              <a:gd name="connsiteX8" fmla="*/ 2868142 w 5736284"/>
              <a:gd name="connsiteY8" fmla="*/ 634964 h 6228731"/>
              <a:gd name="connsiteX9" fmla="*/ 0 w 5736284"/>
              <a:gd name="connsiteY9" fmla="*/ 0 h 6228731"/>
              <a:gd name="connsiteX10" fmla="*/ 5736284 w 5736284"/>
              <a:gd name="connsiteY10" fmla="*/ 0 h 6228731"/>
              <a:gd name="connsiteX11" fmla="*/ 5736284 w 5736284"/>
              <a:gd name="connsiteY11" fmla="*/ 6228731 h 6228731"/>
              <a:gd name="connsiteX12" fmla="*/ 2868142 w 5736284"/>
              <a:gd name="connsiteY12" fmla="*/ 6228731 h 6228731"/>
              <a:gd name="connsiteX13" fmla="*/ 5033593 w 5736284"/>
              <a:gd name="connsiteY13" fmla="*/ 4802012 h 6228731"/>
              <a:gd name="connsiteX14" fmla="*/ 2868142 w 5736284"/>
              <a:gd name="connsiteY14" fmla="*/ 3375293 h 6228731"/>
              <a:gd name="connsiteX15" fmla="*/ 702690 w 5736284"/>
              <a:gd name="connsiteY15" fmla="*/ 4802012 h 6228731"/>
              <a:gd name="connsiteX16" fmla="*/ 2868142 w 5736284"/>
              <a:gd name="connsiteY16" fmla="*/ 6228731 h 6228731"/>
              <a:gd name="connsiteX17" fmla="*/ 0 w 5736284"/>
              <a:gd name="connsiteY17" fmla="*/ 6228731 h 62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36284" h="6228731">
                <a:moveTo>
                  <a:pt x="2868142" y="634964"/>
                </a:moveTo>
                <a:cubicBezTo>
                  <a:pt x="1672197" y="634964"/>
                  <a:pt x="702690" y="844602"/>
                  <a:pt x="702690" y="1103204"/>
                </a:cubicBezTo>
                <a:cubicBezTo>
                  <a:pt x="702690" y="1361054"/>
                  <a:pt x="1666570" y="1570228"/>
                  <a:pt x="2857727" y="1571436"/>
                </a:cubicBezTo>
                <a:cubicBezTo>
                  <a:pt x="1666570" y="1573775"/>
                  <a:pt x="702690" y="1976676"/>
                  <a:pt x="702690" y="2473342"/>
                </a:cubicBezTo>
                <a:cubicBezTo>
                  <a:pt x="702690" y="2971451"/>
                  <a:pt x="1672197" y="3375255"/>
                  <a:pt x="2868142" y="3375255"/>
                </a:cubicBezTo>
                <a:cubicBezTo>
                  <a:pt x="4064087" y="3375255"/>
                  <a:pt x="5033593" y="2971451"/>
                  <a:pt x="5033593" y="2473342"/>
                </a:cubicBezTo>
                <a:cubicBezTo>
                  <a:pt x="5033593" y="1976676"/>
                  <a:pt x="4069714" y="1573775"/>
                  <a:pt x="2878556" y="1571436"/>
                </a:cubicBezTo>
                <a:cubicBezTo>
                  <a:pt x="4069714" y="1570228"/>
                  <a:pt x="5033593" y="1361054"/>
                  <a:pt x="5033593" y="1103204"/>
                </a:cubicBezTo>
                <a:cubicBezTo>
                  <a:pt x="5033593" y="844602"/>
                  <a:pt x="4064087" y="634964"/>
                  <a:pt x="2868142" y="634964"/>
                </a:cubicBezTo>
                <a:close/>
                <a:moveTo>
                  <a:pt x="0" y="0"/>
                </a:moveTo>
                <a:lnTo>
                  <a:pt x="5736284" y="0"/>
                </a:lnTo>
                <a:lnTo>
                  <a:pt x="5736284" y="6228731"/>
                </a:lnTo>
                <a:lnTo>
                  <a:pt x="2868142" y="6228731"/>
                </a:lnTo>
                <a:cubicBezTo>
                  <a:pt x="4064087" y="6228731"/>
                  <a:pt x="5033593" y="5589965"/>
                  <a:pt x="5033593" y="4802012"/>
                </a:cubicBezTo>
                <a:cubicBezTo>
                  <a:pt x="5033593" y="4014059"/>
                  <a:pt x="4064087" y="3375293"/>
                  <a:pt x="2868142" y="3375293"/>
                </a:cubicBezTo>
                <a:cubicBezTo>
                  <a:pt x="1672197" y="3375293"/>
                  <a:pt x="702690" y="4014059"/>
                  <a:pt x="702690" y="4802012"/>
                </a:cubicBezTo>
                <a:cubicBezTo>
                  <a:pt x="702690" y="5589965"/>
                  <a:pt x="1672197" y="6228731"/>
                  <a:pt x="2868142" y="6228731"/>
                </a:cubicBezTo>
                <a:lnTo>
                  <a:pt x="0" y="62287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1D9101-0A20-A644-B98A-5AAB72007147}" type="datetime1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7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64108"/>
            <a:ext cx="8481400" cy="146536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495234"/>
            <a:ext cx="8481400" cy="372776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D50EA-7C99-C642-BDB8-78B050F5294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6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6"/>
            <a:ext cx="4663440" cy="15033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B3D62-CDA4-76D5-336B-27C0EC9C46CE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34">
            <a:extLst>
              <a:ext uri="{FF2B5EF4-FFF2-40B4-BE49-F238E27FC236}">
                <a16:creationId xmlns:a16="http://schemas.microsoft.com/office/drawing/2014/main" id="{889B4C2F-1506-76B3-8948-1B68AC994F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86088"/>
            <a:ext cx="4663440" cy="333691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F157801D-503B-EF46-ADEC-5C959CCCA97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buFont typeface="+mj-lt"/>
              <a:buAutoNum type="arabicPeriod"/>
              <a:defRPr sz="1800"/>
            </a:lvl1pPr>
            <a:lvl2pPr marL="571500" indent="-342900">
              <a:lnSpc>
                <a:spcPct val="90000"/>
              </a:lnSpc>
              <a:buFont typeface="+mj-lt"/>
              <a:buAutoNum type="arabicPeriod"/>
              <a:defRPr sz="1800"/>
            </a:lvl2pPr>
            <a:lvl3pPr marL="800100" indent="-342900">
              <a:lnSpc>
                <a:spcPct val="90000"/>
              </a:lnSpc>
              <a:buFont typeface="+mj-lt"/>
              <a:buAutoNum type="arabicPeriod"/>
              <a:defRPr sz="1800"/>
            </a:lvl3pPr>
            <a:lvl4pPr marL="1028700" indent="-342900">
              <a:lnSpc>
                <a:spcPct val="90000"/>
              </a:lnSpc>
              <a:buFont typeface="+mj-lt"/>
              <a:buAutoNum type="arabicPeriod"/>
              <a:defRPr sz="1800"/>
            </a:lvl4pPr>
            <a:lvl5pPr>
              <a:lnSpc>
                <a:spcPct val="90000"/>
              </a:lnSpc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65F00CF-7379-A045-910C-C8066878311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E8E9733-3F6B-B96D-7402-8479FE5630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0DEB9912-DA83-3943-A195-65BA8C06043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7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EAFFA32D-4823-3A31-3A5A-72A0B530D8A2}"/>
              </a:ext>
            </a:extLst>
          </p:cNvPr>
          <p:cNvSpPr/>
          <p:nvPr userDrawn="1"/>
        </p:nvSpPr>
        <p:spPr>
          <a:xfrm rot="5400000" flipV="1">
            <a:off x="322554" y="307271"/>
            <a:ext cx="5329421" cy="4714880"/>
          </a:xfrm>
          <a:custGeom>
            <a:avLst/>
            <a:gdLst>
              <a:gd name="connsiteX0" fmla="*/ 1894180 w 5329421"/>
              <a:gd name="connsiteY0" fmla="*/ 2357439 h 4714880"/>
              <a:gd name="connsiteX1" fmla="*/ 3578496 w 5329421"/>
              <a:gd name="connsiteY1" fmla="*/ 4714878 h 4714880"/>
              <a:gd name="connsiteX2" fmla="*/ 3611865 w 5329421"/>
              <a:gd name="connsiteY2" fmla="*/ 4712520 h 4714880"/>
              <a:gd name="connsiteX3" fmla="*/ 3645262 w 5329421"/>
              <a:gd name="connsiteY3" fmla="*/ 4714880 h 4714880"/>
              <a:gd name="connsiteX4" fmla="*/ 5320882 w 5329421"/>
              <a:gd name="connsiteY4" fmla="*/ 2598475 h 4714880"/>
              <a:gd name="connsiteX5" fmla="*/ 5329421 w 5329421"/>
              <a:gd name="connsiteY5" fmla="*/ 2361794 h 4714880"/>
              <a:gd name="connsiteX6" fmla="*/ 5329421 w 5329421"/>
              <a:gd name="connsiteY6" fmla="*/ 2353088 h 4714880"/>
              <a:gd name="connsiteX7" fmla="*/ 5320882 w 5329421"/>
              <a:gd name="connsiteY7" fmla="*/ 2116407 h 4714880"/>
              <a:gd name="connsiteX8" fmla="*/ 3645262 w 5329421"/>
              <a:gd name="connsiteY8" fmla="*/ 2 h 4714880"/>
              <a:gd name="connsiteX9" fmla="*/ 3611893 w 5329421"/>
              <a:gd name="connsiteY9" fmla="*/ 2361 h 4714880"/>
              <a:gd name="connsiteX10" fmla="*/ 3578496 w 5329421"/>
              <a:gd name="connsiteY10" fmla="*/ 0 h 4714880"/>
              <a:gd name="connsiteX11" fmla="*/ 1894180 w 5329421"/>
              <a:gd name="connsiteY11" fmla="*/ 2357439 h 4714880"/>
              <a:gd name="connsiteX12" fmla="*/ 0 w 5329421"/>
              <a:gd name="connsiteY12" fmla="*/ 881203 h 4714880"/>
              <a:gd name="connsiteX13" fmla="*/ 0 w 5329421"/>
              <a:gd name="connsiteY13" fmla="*/ 3833675 h 4714880"/>
              <a:gd name="connsiteX14" fmla="*/ 9467 w 5329421"/>
              <a:gd name="connsiteY14" fmla="*/ 3861551 h 4714880"/>
              <a:gd name="connsiteX15" fmla="*/ 829380 w 5329421"/>
              <a:gd name="connsiteY15" fmla="*/ 4714878 h 4714880"/>
              <a:gd name="connsiteX16" fmla="*/ 1894134 w 5329421"/>
              <a:gd name="connsiteY16" fmla="*/ 2357439 h 4714880"/>
              <a:gd name="connsiteX17" fmla="*/ 829380 w 5329421"/>
              <a:gd name="connsiteY17" fmla="*/ 0 h 4714880"/>
              <a:gd name="connsiteX18" fmla="*/ 9467 w 5329421"/>
              <a:gd name="connsiteY18" fmla="*/ 853328 h 47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29421" h="4714880">
                <a:moveTo>
                  <a:pt x="1894180" y="2357439"/>
                </a:moveTo>
                <a:cubicBezTo>
                  <a:pt x="1894180" y="3659415"/>
                  <a:pt x="2648276" y="4714878"/>
                  <a:pt x="3578496" y="4714878"/>
                </a:cubicBezTo>
                <a:lnTo>
                  <a:pt x="3611865" y="4712520"/>
                </a:lnTo>
                <a:lnTo>
                  <a:pt x="3645262" y="4714880"/>
                </a:lnTo>
                <a:cubicBezTo>
                  <a:pt x="4517343" y="4714880"/>
                  <a:pt x="5234628" y="3787227"/>
                  <a:pt x="5320882" y="2598475"/>
                </a:cubicBezTo>
                <a:lnTo>
                  <a:pt x="5329421" y="2361794"/>
                </a:lnTo>
                <a:lnTo>
                  <a:pt x="5329421" y="2353088"/>
                </a:lnTo>
                <a:lnTo>
                  <a:pt x="5320882" y="2116407"/>
                </a:lnTo>
                <a:cubicBezTo>
                  <a:pt x="5234628" y="927654"/>
                  <a:pt x="4517343" y="2"/>
                  <a:pt x="3645262" y="2"/>
                </a:cubicBezTo>
                <a:lnTo>
                  <a:pt x="3611893" y="2361"/>
                </a:lnTo>
                <a:lnTo>
                  <a:pt x="3578496" y="0"/>
                </a:lnTo>
                <a:cubicBezTo>
                  <a:pt x="2648276" y="0"/>
                  <a:pt x="1894180" y="1055462"/>
                  <a:pt x="1894180" y="2357439"/>
                </a:cubicBezTo>
                <a:close/>
                <a:moveTo>
                  <a:pt x="0" y="881203"/>
                </a:moveTo>
                <a:lnTo>
                  <a:pt x="0" y="3833675"/>
                </a:lnTo>
                <a:lnTo>
                  <a:pt x="9467" y="3861551"/>
                </a:lnTo>
                <a:cubicBezTo>
                  <a:pt x="204772" y="4382861"/>
                  <a:pt x="499564" y="4714878"/>
                  <a:pt x="829380" y="4714878"/>
                </a:cubicBezTo>
                <a:cubicBezTo>
                  <a:pt x="1417423" y="4714878"/>
                  <a:pt x="1894134" y="3659415"/>
                  <a:pt x="1894134" y="2357439"/>
                </a:cubicBezTo>
                <a:cubicBezTo>
                  <a:pt x="1894134" y="1055462"/>
                  <a:pt x="1417423" y="0"/>
                  <a:pt x="829380" y="0"/>
                </a:cubicBezTo>
                <a:cubicBezTo>
                  <a:pt x="499564" y="0"/>
                  <a:pt x="204772" y="332017"/>
                  <a:pt x="9467" y="853328"/>
                </a:cubicBezTo>
                <a:close/>
              </a:path>
            </a:pathLst>
          </a:custGeom>
          <a:solidFill>
            <a:schemeClr val="accent2"/>
          </a:solidFill>
          <a:ln w="67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0" y="2495233"/>
            <a:ext cx="5271464" cy="2233294"/>
          </a:xfrm>
        </p:spPr>
        <p:txBody>
          <a:bodyPr anchor="ctr"/>
          <a:lstStyle>
            <a:lvl1pPr marL="0" indent="0" algn="l">
              <a:buNone/>
              <a:defRPr/>
            </a:lvl1pPr>
            <a:lvl2pPr marL="228600" indent="0" algn="l">
              <a:buNone/>
              <a:defRPr/>
            </a:lvl2pPr>
            <a:lvl3pPr marL="457200" indent="0" algn="l">
              <a:buNone/>
              <a:defRPr/>
            </a:lvl3pPr>
            <a:lvl4pPr marL="685800" indent="0" algn="l">
              <a:buNone/>
              <a:defRPr/>
            </a:lvl4pPr>
            <a:lvl5pPr marL="914400" indent="0" algn="l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4203-094B-0D4B-879D-04F5C4F2A8F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8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2129475"/>
            <a:ext cx="3771900" cy="372776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652462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DAB2-5272-0346-9ECD-E0A6C2764DB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51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59"/>
            <a:ext cx="4328497" cy="4841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0" y="1381759"/>
            <a:ext cx="5652469" cy="48412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B29-56AA-9C42-ADF3-4AB1EB6F403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328498" cy="5222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634999"/>
            <a:ext cx="6209053" cy="5633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A7D4-F682-584C-BBAE-B4231503FB6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946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385523" cy="55880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6" y="634999"/>
            <a:ext cx="7152028" cy="558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5130-9426-2744-B098-3B51DCEC7F0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51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634998"/>
            <a:ext cx="6209053" cy="10566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C3C84-2445-A196-7F5F-258A70EC2DB8}"/>
              </a:ext>
            </a:extLst>
          </p:cNvPr>
          <p:cNvSpPr/>
          <p:nvPr userDrawn="1"/>
        </p:nvSpPr>
        <p:spPr>
          <a:xfrm>
            <a:off x="0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8E21C7C-0CD1-5AAF-6BBD-63E495FF25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129475"/>
            <a:ext cx="6209053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CB74803-9A2C-034F-B1A1-F6470E6CA66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170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6209065" cy="10982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129475"/>
            <a:ext cx="6209066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E2F9A-59A2-7E9F-464F-7A36143AEF3C}"/>
              </a:ext>
            </a:extLst>
          </p:cNvPr>
          <p:cNvSpPr/>
          <p:nvPr userDrawn="1"/>
        </p:nvSpPr>
        <p:spPr>
          <a:xfrm>
            <a:off x="7395223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460171E-C624-E466-975C-D2BE23155D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6995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D3B9E8-F3C1-6446-B37C-65190666CE5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097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9"/>
            <a:ext cx="6595437" cy="111604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83495-936E-09A0-8CE3-E436C7809CBB}"/>
              </a:ext>
            </a:extLst>
          </p:cNvPr>
          <p:cNvSpPr/>
          <p:nvPr userDrawn="1"/>
        </p:nvSpPr>
        <p:spPr>
          <a:xfrm>
            <a:off x="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A8DBB29-ED35-445B-4F04-9E61708B9E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6905"/>
            <a:ext cx="6595437" cy="4096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C94DBE0E-BA63-894B-AD67-B5534C763ECE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836617" cy="107360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129474"/>
            <a:ext cx="6823674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A0309-D065-CD9D-2479-AD56597FB81F}"/>
              </a:ext>
            </a:extLst>
          </p:cNvPr>
          <p:cNvSpPr/>
          <p:nvPr userDrawn="1"/>
        </p:nvSpPr>
        <p:spPr>
          <a:xfrm>
            <a:off x="816864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FD96658A-D342-DC0B-8552-B2E3314532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3041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98EB195-6C83-E04A-B652-F00DFBE24657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58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745" y="634999"/>
            <a:ext cx="4304219" cy="112237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7868F-C970-BDC2-3C59-C3B9D60646EC}"/>
              </a:ext>
            </a:extLst>
          </p:cNvPr>
          <p:cNvSpPr/>
          <p:nvPr userDrawn="1"/>
        </p:nvSpPr>
        <p:spPr>
          <a:xfrm>
            <a:off x="634036" y="1"/>
            <a:ext cx="5736284" cy="622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86">
            <a:extLst>
              <a:ext uri="{FF2B5EF4-FFF2-40B4-BE49-F238E27FC236}">
                <a16:creationId xmlns:a16="http://schemas.microsoft.com/office/drawing/2014/main" id="{59A01815-2226-42BA-5989-B67063705B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29475"/>
            <a:ext cx="4304219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19ABAC-CEC0-3744-94EB-1D764E2366A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64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DFB919A-0FBE-5996-8285-F65A2832E27F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Picture Placeholder 86">
            <a:extLst>
              <a:ext uri="{FF2B5EF4-FFF2-40B4-BE49-F238E27FC236}">
                <a16:creationId xmlns:a16="http://schemas.microsoft.com/office/drawing/2014/main" id="{17979BA9-1DC6-39F8-19D7-0BC804341A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3/30/2026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6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97" y="686054"/>
            <a:ext cx="433373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9BC52-F4B9-40D3-13B2-C974CC90EF84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B5950EFE-356D-C8EA-2569-0F26EFFA4E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4137" y="1748474"/>
            <a:ext cx="4323828" cy="4615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D57CA4-9B91-014F-9006-ED823B296BC5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27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74563"/>
            <a:ext cx="4702537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1748474"/>
            <a:ext cx="4702537" cy="461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6030CF-FEDC-475D-1C44-D1A9610C48B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28ECA86B-B2EE-7857-89AB-8C4E9F0712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5B19DAFB-FAB1-764F-BE9B-0C575278000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81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34999"/>
            <a:ext cx="3345301" cy="111347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01BBF-E06C-C8BD-9613-D1E0E2997D96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34">
            <a:extLst>
              <a:ext uri="{FF2B5EF4-FFF2-40B4-BE49-F238E27FC236}">
                <a16:creationId xmlns:a16="http://schemas.microsoft.com/office/drawing/2014/main" id="{EC6F8BE1-DBF8-9F46-A1A0-170BE0AC9F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129475"/>
            <a:ext cx="3345301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2FF7BC53-6B45-7742-9EBA-CB5E7E199EB6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07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76160" cy="112237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2138375"/>
            <a:ext cx="3376160" cy="4084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E5DEB-00A0-C51B-6DFC-390A6C17BC52}"/>
              </a:ext>
            </a:extLst>
          </p:cNvPr>
          <p:cNvSpPr/>
          <p:nvPr userDrawn="1"/>
        </p:nvSpPr>
        <p:spPr>
          <a:xfrm>
            <a:off x="4674781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34">
            <a:extLst>
              <a:ext uri="{FF2B5EF4-FFF2-40B4-BE49-F238E27FC236}">
                <a16:creationId xmlns:a16="http://schemas.microsoft.com/office/drawing/2014/main" id="{09BDCEA9-FCD8-BF3F-D744-F8CFFB64D0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6740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A5B05B6C-DEDB-7544-9F53-A4801D50D3D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6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01716"/>
            <a:ext cx="3214862" cy="15033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CDADF-7E36-EBE1-34D0-785EEE3139B3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04761C5D-E8A4-64AA-78FD-E268D115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2877190"/>
            <a:ext cx="3214862" cy="3345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7BC866-C4B3-4A49-A8DC-A0BE5C9E8AD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88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5109526"/>
            <a:ext cx="3739896" cy="111347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164" y="5109525"/>
            <a:ext cx="6400800" cy="1113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7C8D-329B-1A41-996A-C00FEEB4F1BF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149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8" y="4362766"/>
            <a:ext cx="2953618" cy="186023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98176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362766"/>
            <a:ext cx="7576722" cy="18602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3ED9-EFBD-5A47-956E-678E362C5636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72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006411" cy="186119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B10367D4-204C-404A-8464-46B87B775F25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43897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2938227"/>
            <a:ext cx="12192000" cy="391977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19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45318" cy="97046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1748474"/>
            <a:ext cx="6150815" cy="4474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748475"/>
            <a:ext cx="4333867" cy="4474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3CD41-8253-8740-8961-F06C3711FE73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60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714881" cy="113042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146428"/>
            <a:ext cx="4736262" cy="407657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6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54A3-95B5-7540-93F4-9DA873291FA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13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8108" cy="1113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3752238" cy="409352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2195" y="634999"/>
            <a:ext cx="6595443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D702-F775-114B-846E-EFE6911639E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69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0C886-859A-5158-F0E8-00B1BFC415AF}"/>
              </a:ext>
            </a:extLst>
          </p:cNvPr>
          <p:cNvSpPr/>
          <p:nvPr userDrawn="1"/>
        </p:nvSpPr>
        <p:spPr>
          <a:xfrm>
            <a:off x="5821686" y="0"/>
            <a:ext cx="5736284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CEE0A2-7709-B62C-92B2-F79288C22C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58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356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EE1F0A-D57B-4C33-44C2-D2BF9B19B487}"/>
              </a:ext>
            </a:extLst>
          </p:cNvPr>
          <p:cNvSpPr/>
          <p:nvPr userDrawn="1"/>
        </p:nvSpPr>
        <p:spPr>
          <a:xfrm>
            <a:off x="5821681" y="0"/>
            <a:ext cx="5736284" cy="6818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FB73C4F7-F062-427F-E6F1-8992FE31E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61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2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00600"/>
            <a:ext cx="10923934" cy="14224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609355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BBDB-DB6A-8043-A23A-E4D514668CA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63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06" y="5222240"/>
            <a:ext cx="9037984" cy="1000759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58724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FF74-D6A8-484C-8E59-ED45708650B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8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01611EA6-A98E-788D-8561-0477483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79524"/>
            <a:ext cx="10923934" cy="134347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6FAFFBC2-CB22-180D-9985-6B9E32EE75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24452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8237-8CC6-BF45-96C4-CF90C4DB212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9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0936"/>
            <a:ext cx="6209065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FA9F-5F67-2743-BC9C-9DCD4B6649F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7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34998"/>
            <a:ext cx="8481395" cy="55880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F3B-3FFA-684A-A22D-4B1A741ADF37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34999"/>
            <a:ext cx="10923934" cy="375615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748474"/>
            <a:ext cx="10923934" cy="447452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AEBE-CA61-5040-850D-8DDBD3B263E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7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10923934" cy="366716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42415"/>
            <a:ext cx="10923934" cy="443287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4E7F1-F91F-AD4F-AC91-E9089FFC5F8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8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9037984" cy="366716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3B5A0-0FC4-284F-8762-E74EE352389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712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38374"/>
            <a:ext cx="5266078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578D-94A7-9E43-82B8-AAFA272825E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769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42831"/>
            <a:ext cx="10923934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051211"/>
            <a:ext cx="5266090" cy="38195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495234"/>
            <a:ext cx="5266090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1886" y="2051212"/>
            <a:ext cx="5266078" cy="3819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5234"/>
            <a:ext cx="5271464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3611-F589-6B46-B56A-435CF60591D4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363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692AA-1C89-D34D-9E81-E1A863B5BE1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115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2A457-1E7D-C84D-ACA4-D60564856941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9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9"/>
            <a:ext cx="3771903" cy="1494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2495234"/>
            <a:ext cx="3771904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634999"/>
            <a:ext cx="6226055" cy="5588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1255-8A2A-504E-AE57-51186F2E75A8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001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2886089"/>
            <a:ext cx="3771901" cy="33369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4999"/>
            <a:ext cx="6595442" cy="562577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0A0A-7008-8A4A-B23F-5951DF641DB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25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847087"/>
            <a:ext cx="7538424" cy="1386963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3615051"/>
            <a:ext cx="10923933" cy="260794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>
                <a:solidFill>
                  <a:schemeClr val="accent1"/>
                </a:solidFill>
              </a:defRPr>
            </a:lvl2pPr>
            <a:lvl3pPr marL="457200" indent="0">
              <a:buNone/>
              <a:defRPr>
                <a:solidFill>
                  <a:schemeClr val="accent1"/>
                </a:solidFill>
              </a:defRPr>
            </a:lvl3pPr>
            <a:lvl4pPr marL="685800" indent="0">
              <a:buNone/>
              <a:defRPr>
                <a:solidFill>
                  <a:schemeClr val="accent1"/>
                </a:solidFill>
              </a:defRPr>
            </a:lvl4pPr>
            <a:lvl5pPr marL="9144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31EFE-56B6-8F4D-8113-558CEDB7B73A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8481399" cy="1867858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2674"/>
            <a:ext cx="8481399" cy="148685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228600" indent="0">
              <a:buNone/>
              <a:defRPr sz="2000">
                <a:solidFill>
                  <a:schemeClr val="accent1"/>
                </a:solidFill>
              </a:defRPr>
            </a:lvl2pPr>
            <a:lvl3pPr marL="457200" indent="0">
              <a:buNone/>
              <a:defRPr sz="1800">
                <a:solidFill>
                  <a:schemeClr val="accent1"/>
                </a:solidFill>
              </a:defRPr>
            </a:lvl3pPr>
            <a:lvl4pPr marL="685800" indent="0">
              <a:buNone/>
              <a:defRPr sz="1600">
                <a:solidFill>
                  <a:schemeClr val="accent1"/>
                </a:solidFill>
              </a:defRPr>
            </a:lvl4pPr>
            <a:lvl5pPr marL="9144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D02D-3DC0-C54F-AF94-CB2AA6AB0D37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4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4704473" cy="2607950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4362766"/>
            <a:ext cx="4704473" cy="1860234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2pPr>
            <a:lvl3pPr marL="4572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3pPr>
            <a:lvl4pPr marL="6858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4pPr>
            <a:lvl5pPr marL="9144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4D02D-3DC0-C54F-AF94-CB2AA6AB0D37}" type="datetime1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E1A7A48-EC1B-2BD5-026A-AEDC4C01FC96}"/>
              </a:ext>
            </a:extLst>
          </p:cNvPr>
          <p:cNvSpPr/>
          <p:nvPr userDrawn="1"/>
        </p:nvSpPr>
        <p:spPr>
          <a:xfrm>
            <a:off x="5821681" y="1"/>
            <a:ext cx="6370318" cy="6223000"/>
          </a:xfrm>
          <a:custGeom>
            <a:avLst/>
            <a:gdLst>
              <a:gd name="connsiteX0" fmla="*/ 3185158 w 6370318"/>
              <a:gd name="connsiteY0" fmla="*/ 991383 h 6223000"/>
              <a:gd name="connsiteX1" fmla="*/ 974138 w 6370318"/>
              <a:gd name="connsiteY1" fmla="*/ 2448125 h 6223000"/>
              <a:gd name="connsiteX2" fmla="*/ 3185158 w 6370318"/>
              <a:gd name="connsiteY2" fmla="*/ 3904867 h 6223000"/>
              <a:gd name="connsiteX3" fmla="*/ 5396178 w 6370318"/>
              <a:gd name="connsiteY3" fmla="*/ 2448125 h 6223000"/>
              <a:gd name="connsiteX4" fmla="*/ 3185158 w 6370318"/>
              <a:gd name="connsiteY4" fmla="*/ 991383 h 6223000"/>
              <a:gd name="connsiteX5" fmla="*/ 0 w 6370318"/>
              <a:gd name="connsiteY5" fmla="*/ 0 h 6223000"/>
              <a:gd name="connsiteX6" fmla="*/ 6370318 w 6370318"/>
              <a:gd name="connsiteY6" fmla="*/ 0 h 6223000"/>
              <a:gd name="connsiteX7" fmla="*/ 6370318 w 6370318"/>
              <a:gd name="connsiteY7" fmla="*/ 6223000 h 6223000"/>
              <a:gd name="connsiteX8" fmla="*/ 5395766 w 6370318"/>
              <a:gd name="connsiteY8" fmla="*/ 6223000 h 6223000"/>
              <a:gd name="connsiteX9" fmla="*/ 5384828 w 6370318"/>
              <a:gd name="connsiteY9" fmla="*/ 6176026 h 6223000"/>
              <a:gd name="connsiteX10" fmla="*/ 3195791 w 6370318"/>
              <a:gd name="connsiteY10" fmla="*/ 5746683 h 6223000"/>
              <a:gd name="connsiteX11" fmla="*/ 5396178 w 6370318"/>
              <a:gd name="connsiteY11" fmla="*/ 4825797 h 6223000"/>
              <a:gd name="connsiteX12" fmla="*/ 3185158 w 6370318"/>
              <a:gd name="connsiteY12" fmla="*/ 3904906 h 6223000"/>
              <a:gd name="connsiteX13" fmla="*/ 974138 w 6370318"/>
              <a:gd name="connsiteY13" fmla="*/ 4825797 h 6223000"/>
              <a:gd name="connsiteX14" fmla="*/ 3174524 w 6370318"/>
              <a:gd name="connsiteY14" fmla="*/ 5746683 h 6223000"/>
              <a:gd name="connsiteX15" fmla="*/ 985488 w 6370318"/>
              <a:gd name="connsiteY15" fmla="*/ 6176026 h 6223000"/>
              <a:gd name="connsiteX16" fmla="*/ 974550 w 6370318"/>
              <a:gd name="connsiteY16" fmla="*/ 6223000 h 6223000"/>
              <a:gd name="connsiteX17" fmla="*/ 0 w 6370318"/>
              <a:gd name="connsiteY17" fmla="*/ 6223000 h 622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70318" h="6223000">
                <a:moveTo>
                  <a:pt x="3185158" y="991383"/>
                </a:moveTo>
                <a:cubicBezTo>
                  <a:pt x="1964046" y="991383"/>
                  <a:pt x="974138" y="1643590"/>
                  <a:pt x="974138" y="2448125"/>
                </a:cubicBezTo>
                <a:cubicBezTo>
                  <a:pt x="974138" y="3252659"/>
                  <a:pt x="1964046" y="3904867"/>
                  <a:pt x="3185158" y="3904867"/>
                </a:cubicBezTo>
                <a:cubicBezTo>
                  <a:pt x="4406270" y="3904867"/>
                  <a:pt x="5396178" y="3252659"/>
                  <a:pt x="5396178" y="2448125"/>
                </a:cubicBezTo>
                <a:cubicBezTo>
                  <a:pt x="5396178" y="1643590"/>
                  <a:pt x="4406270" y="991383"/>
                  <a:pt x="3185158" y="991383"/>
                </a:cubicBezTo>
                <a:close/>
                <a:moveTo>
                  <a:pt x="0" y="0"/>
                </a:moveTo>
                <a:lnTo>
                  <a:pt x="6370318" y="0"/>
                </a:lnTo>
                <a:lnTo>
                  <a:pt x="6370318" y="6223000"/>
                </a:lnTo>
                <a:lnTo>
                  <a:pt x="5395766" y="6223000"/>
                </a:lnTo>
                <a:lnTo>
                  <a:pt x="5384828" y="6176026"/>
                </a:lnTo>
                <a:cubicBezTo>
                  <a:pt x="5272251" y="5935624"/>
                  <a:pt x="4336001" y="5747839"/>
                  <a:pt x="3195791" y="5746683"/>
                </a:cubicBezTo>
                <a:cubicBezTo>
                  <a:pt x="4412015" y="5744294"/>
                  <a:pt x="5396178" y="5332915"/>
                  <a:pt x="5396178" y="4825797"/>
                </a:cubicBezTo>
                <a:cubicBezTo>
                  <a:pt x="5396178" y="4317207"/>
                  <a:pt x="4406270" y="3904906"/>
                  <a:pt x="3185158" y="3904906"/>
                </a:cubicBezTo>
                <a:cubicBezTo>
                  <a:pt x="1964046" y="3904906"/>
                  <a:pt x="974138" y="4317207"/>
                  <a:pt x="974138" y="4825797"/>
                </a:cubicBezTo>
                <a:cubicBezTo>
                  <a:pt x="974138" y="5332915"/>
                  <a:pt x="1958301" y="5744294"/>
                  <a:pt x="3174524" y="5746683"/>
                </a:cubicBezTo>
                <a:cubicBezTo>
                  <a:pt x="2034315" y="5747839"/>
                  <a:pt x="1098065" y="5935624"/>
                  <a:pt x="985488" y="6176026"/>
                </a:cubicBezTo>
                <a:lnTo>
                  <a:pt x="974550" y="6223000"/>
                </a:lnTo>
                <a:lnTo>
                  <a:pt x="0" y="6223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4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635000"/>
            <a:ext cx="10923934" cy="7467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10923934" cy="4474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6A0A5BC3-F280-874C-BA55-1A6C5B1523D3}" type="datetime1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813" r:id="rId8"/>
    <p:sldLayoutId id="2147483771" r:id="rId9"/>
    <p:sldLayoutId id="2147483816" r:id="rId10"/>
    <p:sldLayoutId id="2147483772" r:id="rId11"/>
    <p:sldLayoutId id="2147483773" r:id="rId12"/>
    <p:sldLayoutId id="2147483814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815" r:id="rId36"/>
    <p:sldLayoutId id="2147483818" r:id="rId37"/>
    <p:sldLayoutId id="2147483796" r:id="rId38"/>
    <p:sldLayoutId id="2147483797" r:id="rId39"/>
    <p:sldLayoutId id="2147483798" r:id="rId40"/>
    <p:sldLayoutId id="2147483799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  <p:sldLayoutId id="2147483810" r:id="rId51"/>
    <p:sldLayoutId id="2147483811" r:id="rId52"/>
    <p:sldLayoutId id="2147483812" r:id="rId53"/>
    <p:sldLayoutId id="2147483817" r:id="rId5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/>
          <a:lstStyle/>
          <a:p>
            <a:r>
              <a:rPr lang="en-US" dirty="0"/>
              <a:t>Access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/>
          <a:lstStyle/>
          <a:p>
            <a:r>
              <a:rPr lang="en-US" dirty="0"/>
              <a:t>Presented by Victoria Mok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0" y="2495233"/>
            <a:ext cx="5271464" cy="2233294"/>
          </a:xfrm>
        </p:spPr>
        <p:txBody>
          <a:bodyPr/>
          <a:lstStyle/>
          <a:p>
            <a:r>
              <a:rPr lang="en-US" dirty="0"/>
              <a:t>How do you decide who gets what?</a:t>
            </a:r>
          </a:p>
        </p:txBody>
      </p:sp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5141-87C9-23DF-ECBC-B828494C9F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r>
              <a:rPr lang="en-US" dirty="0"/>
              <a:t>Security technique</a:t>
            </a:r>
          </a:p>
          <a:p>
            <a:r>
              <a:rPr lang="en-US" dirty="0"/>
              <a:t>Regulates who or what can view, use or enter digital and physical resources</a:t>
            </a:r>
          </a:p>
          <a:p>
            <a:r>
              <a:rPr lang="en-US" dirty="0"/>
              <a:t>Protects sensitive information</a:t>
            </a:r>
          </a:p>
          <a:p>
            <a:r>
              <a:rPr lang="en-US" dirty="0"/>
              <a:t>Grants permissions to authorized users</a:t>
            </a:r>
          </a:p>
        </p:txBody>
      </p:sp>
      <p:pic>
        <p:nvPicPr>
          <p:cNvPr id="8" name="Picture Placeholder 7" descr="A couple of people crossing a street">
            <a:extLst>
              <a:ext uri="{FF2B5EF4-FFF2-40B4-BE49-F238E27FC236}">
                <a16:creationId xmlns:a16="http://schemas.microsoft.com/office/drawing/2014/main" id="{2EAC0192-278D-89E4-80FC-ECD204D64D0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-30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5872" y="736601"/>
            <a:ext cx="3867912" cy="5486400"/>
          </a:xfrm>
        </p:spPr>
      </p:pic>
    </p:spTree>
    <p:extLst>
      <p:ext uri="{BB962C8B-B14F-4D97-AF65-F5344CB8AC3E}">
        <p14:creationId xmlns:p14="http://schemas.microsoft.com/office/powerpoint/2010/main" val="599029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/>
          <a:lstStyle/>
          <a:p>
            <a:r>
              <a:rPr lang="en-US" dirty="0"/>
              <a:t>Access Control Types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 dirty="0"/>
              <a:t>DAC (Discretionary Access Control)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B5EE-EC32-8941-B9F3-74604A298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What it is</a:t>
            </a:r>
            <a:r>
              <a:rPr lang="en-US" dirty="0"/>
              <a:t>: The owner of a resource decides who can access it</a:t>
            </a:r>
          </a:p>
          <a:p>
            <a:pPr marL="0" indent="0">
              <a:buNone/>
            </a:pPr>
            <a:r>
              <a:rPr lang="en-US" b="1" dirty="0"/>
              <a:t>Examples: </a:t>
            </a:r>
            <a:r>
              <a:rPr lang="en-US" dirty="0"/>
              <a:t>File sharing permissions, cloud storage sharing (</a:t>
            </a:r>
            <a:r>
              <a:rPr lang="en-US" dirty="0" err="1"/>
              <a:t>eg.</a:t>
            </a:r>
            <a:r>
              <a:rPr lang="en-US" dirty="0"/>
              <a:t> Google Drive), smartphone app permissions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Risk:</a:t>
            </a:r>
            <a:r>
              <a:rPr lang="en-US" dirty="0"/>
              <a:t> Relies on the owner making good decisions</a:t>
            </a:r>
            <a:endParaRPr lang="en-US" b="1" dirty="0"/>
          </a:p>
        </p:txBody>
      </p:sp>
      <p:pic>
        <p:nvPicPr>
          <p:cNvPr id="6" name="Graphic 5" descr="Office worker female with solid fill">
            <a:extLst>
              <a:ext uri="{FF2B5EF4-FFF2-40B4-BE49-F238E27FC236}">
                <a16:creationId xmlns:a16="http://schemas.microsoft.com/office/drawing/2014/main" id="{FDA2C5A9-8242-3300-1CDB-FC3985E24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724" y="1496536"/>
            <a:ext cx="1768341" cy="1768341"/>
          </a:xfrm>
          <a:prstGeom prst="rect">
            <a:avLst/>
          </a:prstGeom>
        </p:spPr>
      </p:pic>
      <p:pic>
        <p:nvPicPr>
          <p:cNvPr id="8" name="Graphic 7" descr="Document with solid fill">
            <a:extLst>
              <a:ext uri="{FF2B5EF4-FFF2-40B4-BE49-F238E27FC236}">
                <a16:creationId xmlns:a16="http://schemas.microsoft.com/office/drawing/2014/main" id="{A78758CD-D1E7-6BC1-1EA6-2DC8B4509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7838" y="3966419"/>
            <a:ext cx="1134208" cy="1134208"/>
          </a:xfrm>
          <a:prstGeom prst="rect">
            <a:avLst/>
          </a:prstGeom>
        </p:spPr>
      </p:pic>
      <p:pic>
        <p:nvPicPr>
          <p:cNvPr id="10" name="Graphic 9" descr="Group of men with solid fill">
            <a:extLst>
              <a:ext uri="{FF2B5EF4-FFF2-40B4-BE49-F238E27FC236}">
                <a16:creationId xmlns:a16="http://schemas.microsoft.com/office/drawing/2014/main" id="{65EC5419-DBF5-8DD6-4C64-AD5168E73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963" y="3966419"/>
            <a:ext cx="1354016" cy="1354016"/>
          </a:xfrm>
          <a:prstGeom prst="rect">
            <a:avLst/>
          </a:prstGeom>
        </p:spPr>
      </p:pic>
      <p:pic>
        <p:nvPicPr>
          <p:cNvPr id="12" name="Graphic 11" descr="Lock with solid fill">
            <a:extLst>
              <a:ext uri="{FF2B5EF4-FFF2-40B4-BE49-F238E27FC236}">
                <a16:creationId xmlns:a16="http://schemas.microsoft.com/office/drawing/2014/main" id="{ACCAC669-5770-C460-6B0C-1D7886B367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6649" y="4537919"/>
            <a:ext cx="791307" cy="791307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9D242CE2-E2D6-1339-A167-62A4F6973A9F}"/>
              </a:ext>
            </a:extLst>
          </p:cNvPr>
          <p:cNvSpPr/>
          <p:nvPr/>
        </p:nvSpPr>
        <p:spPr>
          <a:xfrm rot="7991836">
            <a:off x="7474821" y="3108161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0CF723EB-821F-053A-5831-7AC206D8F19E}"/>
              </a:ext>
            </a:extLst>
          </p:cNvPr>
          <p:cNvSpPr/>
          <p:nvPr/>
        </p:nvSpPr>
        <p:spPr>
          <a:xfrm rot="13608164" flipH="1">
            <a:off x="9968426" y="3102483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C9472F66-FFAA-4D41-49B8-6CDB480ABAC1}"/>
              </a:ext>
            </a:extLst>
          </p:cNvPr>
          <p:cNvSpPr/>
          <p:nvPr/>
        </p:nvSpPr>
        <p:spPr>
          <a:xfrm>
            <a:off x="8789150" y="4447592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73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863B-D9A3-150D-6718-FD3B43BF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9F35A-38CB-69F3-46C1-AF629AE9A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010613"/>
            <a:ext cx="11081121" cy="1169879"/>
          </a:xfrm>
        </p:spPr>
        <p:txBody>
          <a:bodyPr>
            <a:normAutofit/>
          </a:bodyPr>
          <a:lstStyle/>
          <a:p>
            <a:r>
              <a:rPr lang="en-AU" dirty="0"/>
              <a:t>NDAC (Non-Discretionary Access Control)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2EAD0-1830-0B5D-6CC8-CA20591A6E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What it is</a:t>
            </a:r>
            <a:r>
              <a:rPr lang="en-US" dirty="0"/>
              <a:t>: Access set by a central policy</a:t>
            </a:r>
          </a:p>
          <a:p>
            <a:pPr marL="0" indent="0">
              <a:buNone/>
            </a:pPr>
            <a:r>
              <a:rPr lang="en-US" b="1" dirty="0"/>
              <a:t>Examples: </a:t>
            </a:r>
            <a:r>
              <a:rPr lang="en-US" dirty="0"/>
              <a:t>Role-Based Access Control (RBAC), Attribute-Based Access Control, Time-Based Access Control, Label-Based Access Control</a:t>
            </a:r>
          </a:p>
          <a:p>
            <a:pPr marL="0" indent="0">
              <a:buNone/>
            </a:pPr>
            <a:r>
              <a:rPr lang="en-US" b="1" dirty="0"/>
              <a:t>Strength:</a:t>
            </a:r>
            <a:r>
              <a:rPr lang="en-US" dirty="0"/>
              <a:t> Consistent, policy-driven, harder to misuse</a:t>
            </a:r>
            <a:endParaRPr lang="en-US" b="1" dirty="0"/>
          </a:p>
        </p:txBody>
      </p:sp>
      <p:pic>
        <p:nvPicPr>
          <p:cNvPr id="5" name="Graphic 4" descr="Office worker female with solid fill">
            <a:extLst>
              <a:ext uri="{FF2B5EF4-FFF2-40B4-BE49-F238E27FC236}">
                <a16:creationId xmlns:a16="http://schemas.microsoft.com/office/drawing/2014/main" id="{16C96CB4-A750-C9FD-7E78-2A2F5E88B4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5697" y="2494085"/>
            <a:ext cx="1295400" cy="1295400"/>
          </a:xfrm>
          <a:prstGeom prst="rect">
            <a:avLst/>
          </a:prstGeom>
        </p:spPr>
      </p:pic>
      <p:pic>
        <p:nvPicPr>
          <p:cNvPr id="9" name="Graphic 8" descr="Office worker male with solid fill">
            <a:extLst>
              <a:ext uri="{FF2B5EF4-FFF2-40B4-BE49-F238E27FC236}">
                <a16:creationId xmlns:a16="http://schemas.microsoft.com/office/drawing/2014/main" id="{3DF6F86A-1FCF-8AEB-DE4E-6E6AED852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7645" y="4180687"/>
            <a:ext cx="1295399" cy="1295399"/>
          </a:xfrm>
          <a:prstGeom prst="rect">
            <a:avLst/>
          </a:prstGeom>
        </p:spPr>
      </p:pic>
      <p:pic>
        <p:nvPicPr>
          <p:cNvPr id="16" name="Graphic 15" descr="Open folder with solid fill">
            <a:extLst>
              <a:ext uri="{FF2B5EF4-FFF2-40B4-BE49-F238E27FC236}">
                <a16:creationId xmlns:a16="http://schemas.microsoft.com/office/drawing/2014/main" id="{B718DCFB-821A-DB30-2DCD-C7CBDD9AC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1184" y="3141784"/>
            <a:ext cx="1178169" cy="11781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4F0517-D45A-1783-AE56-0248DF28077C}"/>
              </a:ext>
            </a:extLst>
          </p:cNvPr>
          <p:cNvSpPr txBox="1"/>
          <p:nvPr/>
        </p:nvSpPr>
        <p:spPr>
          <a:xfrm>
            <a:off x="7481068" y="37308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  <a:latin typeface="+mj-lt"/>
              </a:rPr>
              <a:t>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FD9E3-2DF5-7F3C-6E97-3B12A189AA71}"/>
              </a:ext>
            </a:extLst>
          </p:cNvPr>
          <p:cNvSpPr txBox="1"/>
          <p:nvPr/>
        </p:nvSpPr>
        <p:spPr>
          <a:xfrm>
            <a:off x="7319070" y="5420348"/>
            <a:ext cx="87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  <a:latin typeface="+mj-lt"/>
              </a:rPr>
              <a:t>Payroll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C101FA-8816-0AB8-5CBB-C51D3D2E54A8}"/>
              </a:ext>
            </a:extLst>
          </p:cNvPr>
          <p:cNvSpPr txBox="1"/>
          <p:nvPr/>
        </p:nvSpPr>
        <p:spPr>
          <a:xfrm>
            <a:off x="9472780" y="4100200"/>
            <a:ext cx="1969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  <a:latin typeface="+mj-lt"/>
              </a:rPr>
              <a:t>Payroll Document</a:t>
            </a:r>
          </a:p>
        </p:txBody>
      </p:sp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8CACB402-A2B4-E658-28F8-3FA057DE2BCE}"/>
              </a:ext>
            </a:extLst>
          </p:cNvPr>
          <p:cNvSpPr/>
          <p:nvPr/>
        </p:nvSpPr>
        <p:spPr>
          <a:xfrm rot="19673470">
            <a:off x="8521877" y="4647829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0750CFC2-45ED-BB22-26B6-DDC802F981CC}"/>
              </a:ext>
            </a:extLst>
          </p:cNvPr>
          <p:cNvSpPr/>
          <p:nvPr/>
        </p:nvSpPr>
        <p:spPr>
          <a:xfrm rot="1271533">
            <a:off x="8395303" y="2987235"/>
            <a:ext cx="1193516" cy="553387"/>
          </a:xfrm>
          <a:prstGeom prst="stripedRightArrow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4" name="Graphic 23" descr="Checkmark with solid fill">
            <a:extLst>
              <a:ext uri="{FF2B5EF4-FFF2-40B4-BE49-F238E27FC236}">
                <a16:creationId xmlns:a16="http://schemas.microsoft.com/office/drawing/2014/main" id="{265CD05D-9A63-2CF5-2099-6E95297AF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4730" y="5222095"/>
            <a:ext cx="765837" cy="765837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1C33197B-C023-1FB5-7833-B1AB34208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1435" y="2118946"/>
            <a:ext cx="759069" cy="75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7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E3D5-AAAD-38F5-0EF6-A09A5B44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487D-C26D-F089-20C4-08A616B1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 dirty="0"/>
              <a:t>IAM (Identity and Access Management)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3F066-831B-1232-DB1F-D93DC5C756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What it is</a:t>
            </a:r>
            <a:r>
              <a:rPr lang="en-US" dirty="0"/>
              <a:t>: A system to store all identity and access information</a:t>
            </a:r>
          </a:p>
          <a:p>
            <a:pPr marL="0" indent="0">
              <a:buNone/>
            </a:pPr>
            <a:r>
              <a:rPr lang="en-US" b="1" dirty="0"/>
              <a:t>Examples: </a:t>
            </a:r>
            <a:r>
              <a:rPr lang="en-US" dirty="0"/>
              <a:t>Multi-Factor Authentication, Single Sign-On, Role-Based Access Control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Lifecycle: </a:t>
            </a:r>
            <a:r>
              <a:rPr lang="en-US" dirty="0"/>
              <a:t>creating, modifying, and retiring the identity of an </a:t>
            </a:r>
            <a:r>
              <a:rPr lang="en-US" dirty="0" err="1"/>
              <a:t>authorised</a:t>
            </a:r>
            <a:r>
              <a:rPr lang="en-US" dirty="0"/>
              <a:t> entity</a:t>
            </a:r>
            <a:endParaRPr lang="en-US" b="1" dirty="0"/>
          </a:p>
        </p:txBody>
      </p:sp>
      <p:pic>
        <p:nvPicPr>
          <p:cNvPr id="6" name="Graphic 5" descr="Office worker female with solid fill">
            <a:extLst>
              <a:ext uri="{FF2B5EF4-FFF2-40B4-BE49-F238E27FC236}">
                <a16:creationId xmlns:a16="http://schemas.microsoft.com/office/drawing/2014/main" id="{174A0BB6-DB26-2F08-3A33-7FC525A9BC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3724" y="1496536"/>
            <a:ext cx="1768341" cy="1768341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53DF5E6A-56F7-0DD0-F647-789FD69D92C8}"/>
              </a:ext>
            </a:extLst>
          </p:cNvPr>
          <p:cNvSpPr/>
          <p:nvPr/>
        </p:nvSpPr>
        <p:spPr>
          <a:xfrm rot="7991836">
            <a:off x="7474822" y="3474107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0F998235-0E39-8201-178C-8F0B102FE0D7}"/>
              </a:ext>
            </a:extLst>
          </p:cNvPr>
          <p:cNvSpPr/>
          <p:nvPr/>
        </p:nvSpPr>
        <p:spPr>
          <a:xfrm rot="13608164" flipH="1">
            <a:off x="10114964" y="3474107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603BD2A0-82C2-CBAF-73B6-7BC12BD45F04}"/>
              </a:ext>
            </a:extLst>
          </p:cNvPr>
          <p:cNvSpPr/>
          <p:nvPr/>
        </p:nvSpPr>
        <p:spPr>
          <a:xfrm rot="16200000" flipH="1">
            <a:off x="8843011" y="3671238"/>
            <a:ext cx="1193516" cy="553387"/>
          </a:xfrm>
          <a:prstGeom prst="stripedRightArrow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7" name="Graphic 6" descr="Books on shelf outline">
            <a:extLst>
              <a:ext uri="{FF2B5EF4-FFF2-40B4-BE49-F238E27FC236}">
                <a16:creationId xmlns:a16="http://schemas.microsoft.com/office/drawing/2014/main" id="{31A969B8-6591-2193-5382-108E5465F5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9911" y="4375238"/>
            <a:ext cx="914400" cy="914400"/>
          </a:xfrm>
          <a:prstGeom prst="rect">
            <a:avLst/>
          </a:prstGeom>
        </p:spPr>
      </p:pic>
      <p:pic>
        <p:nvPicPr>
          <p:cNvPr id="11" name="Graphic 10" descr="Work from home Wi-Fi with solid fill">
            <a:extLst>
              <a:ext uri="{FF2B5EF4-FFF2-40B4-BE49-F238E27FC236}">
                <a16:creationId xmlns:a16="http://schemas.microsoft.com/office/drawing/2014/main" id="{2D02876E-C9EC-784D-2D55-61D006D7D8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2569" y="4698554"/>
            <a:ext cx="914400" cy="914400"/>
          </a:xfrm>
          <a:prstGeom prst="rect">
            <a:avLst/>
          </a:prstGeom>
        </p:spPr>
      </p:pic>
      <p:pic>
        <p:nvPicPr>
          <p:cNvPr id="17" name="Graphic 16" descr="Work from home desk with solid fill">
            <a:extLst>
              <a:ext uri="{FF2B5EF4-FFF2-40B4-BE49-F238E27FC236}">
                <a16:creationId xmlns:a16="http://schemas.microsoft.com/office/drawing/2014/main" id="{5C35C0B4-D9CB-22A4-90A9-BFB23F26EE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4721" y="44499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3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>
            <a:normAutofit/>
          </a:bodyPr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364687"/>
              </p:ext>
            </p:extLst>
          </p:nvPr>
        </p:nvGraphicFramePr>
        <p:xfrm>
          <a:off x="633413" y="2138363"/>
          <a:ext cx="10923933" cy="4093525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1992556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3794557048"/>
                    </a:ext>
                  </a:extLst>
                </a:gridCol>
                <a:gridCol w="3042139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2852961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818705">
                <a:tc>
                  <a:txBody>
                    <a:bodyPr/>
                    <a:lstStyle/>
                    <a:p>
                      <a:endParaRPr lang="en-US" sz="1600" b="0" i="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j-lt"/>
                        </a:rPr>
                        <a:t>DAC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j-lt"/>
                        </a:rPr>
                        <a:t>NDAC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j-lt"/>
                        </a:rPr>
                        <a:t>IAM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Who sets access?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n-lt"/>
                        </a:rPr>
                        <a:t>Resource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Central policy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System/Admin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Flexible?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No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Structured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Risk level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n-lt"/>
                        </a:rPr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Lower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Depends on setup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81870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Best for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n-lt"/>
                        </a:rPr>
                        <a:t>Collaboration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accent2"/>
                          </a:solidFill>
                          <a:latin typeface="+mn-lt"/>
                        </a:rPr>
                        <a:t>Sensitive/regulated data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accent2"/>
                          </a:solidFill>
                          <a:latin typeface="+mn-lt"/>
                        </a:rPr>
                        <a:t>Large </a:t>
                      </a:r>
                      <a:r>
                        <a:rPr lang="en-US" sz="1600" b="0" i="0" dirty="0" err="1">
                          <a:solidFill>
                            <a:schemeClr val="accent2"/>
                          </a:solidFill>
                          <a:latin typeface="+mn-lt"/>
                        </a:rPr>
                        <a:t>organisations</a:t>
                      </a:r>
                      <a:endParaRPr lang="en-US" sz="1600" b="0" i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/>
          <a:lstStyle/>
          <a:p>
            <a:r>
              <a:rPr lang="en-US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00D28-F56B-C55A-7648-6951D892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17458-7914-C69B-A1BE-C3046B84C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Multi-factor authentication (</a:t>
            </a:r>
            <a:r>
              <a:rPr lang="en-AU" dirty="0" err="1"/>
              <a:t>mfa</a:t>
            </a:r>
            <a:r>
              <a:rPr lang="en-AU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6DCC8-E95A-76D9-ED70-144AB1A02C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b="1" dirty="0"/>
              <a:t>What it is: </a:t>
            </a:r>
            <a:r>
              <a:rPr lang="en-US" dirty="0"/>
              <a:t>Requiring two or more types of proof before granting access</a:t>
            </a:r>
          </a:p>
          <a:p>
            <a:r>
              <a:rPr lang="en-US" b="1" dirty="0"/>
              <a:t>Three factors: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dirty="0"/>
              <a:t>Something you know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dirty="0"/>
              <a:t>Something you have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dirty="0"/>
              <a:t>Something you 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9DD25-9799-0460-71D3-7097E9E76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Single sign-on (</a:t>
            </a:r>
            <a:r>
              <a:rPr lang="en-AU" dirty="0" err="1"/>
              <a:t>SSo</a:t>
            </a:r>
            <a:r>
              <a:rPr lang="en-AU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EEC231-B8DC-C2BA-527E-D04A4518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b="1" dirty="0"/>
              <a:t>What it is:</a:t>
            </a:r>
            <a:r>
              <a:rPr lang="en-AU" dirty="0"/>
              <a:t> a mechanism that allows one’s identity to be shared across multiple applications</a:t>
            </a:r>
          </a:p>
          <a:p>
            <a:r>
              <a:rPr lang="en-AU" b="1" dirty="0"/>
              <a:t>Benefit:</a:t>
            </a:r>
            <a:r>
              <a:rPr lang="en-AU" dirty="0"/>
              <a:t> Convenient for users, easier for IT to manage</a:t>
            </a:r>
          </a:p>
          <a:p>
            <a:r>
              <a:rPr lang="en-AU" b="1" dirty="0"/>
              <a:t>Trade-off:</a:t>
            </a:r>
            <a:r>
              <a:rPr lang="en-AU" dirty="0"/>
              <a:t> If one login is compromised, many issues!</a:t>
            </a:r>
            <a:endParaRPr lang="en-AU" b="1" dirty="0"/>
          </a:p>
        </p:txBody>
      </p:sp>
      <p:pic>
        <p:nvPicPr>
          <p:cNvPr id="9" name="Graphic 8" descr="Key outline">
            <a:extLst>
              <a:ext uri="{FF2B5EF4-FFF2-40B4-BE49-F238E27FC236}">
                <a16:creationId xmlns:a16="http://schemas.microsoft.com/office/drawing/2014/main" id="{7DCA9385-7ADA-E03B-148F-9A3B84FC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864" y="5218724"/>
            <a:ext cx="914400" cy="914400"/>
          </a:xfrm>
          <a:prstGeom prst="rect">
            <a:avLst/>
          </a:prstGeom>
        </p:spPr>
      </p:pic>
      <p:pic>
        <p:nvPicPr>
          <p:cNvPr id="11" name="Graphic 10" descr="Fingerprint outline">
            <a:extLst>
              <a:ext uri="{FF2B5EF4-FFF2-40B4-BE49-F238E27FC236}">
                <a16:creationId xmlns:a16="http://schemas.microsoft.com/office/drawing/2014/main" id="{E652DD0B-94AD-408B-E605-6F2678BB9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9644" y="5189416"/>
            <a:ext cx="914400" cy="914400"/>
          </a:xfrm>
          <a:prstGeom prst="rect">
            <a:avLst/>
          </a:prstGeom>
        </p:spPr>
      </p:pic>
      <p:pic>
        <p:nvPicPr>
          <p:cNvPr id="13" name="Graphic 12" descr="Smart Phone outline">
            <a:extLst>
              <a:ext uri="{FF2B5EF4-FFF2-40B4-BE49-F238E27FC236}">
                <a16:creationId xmlns:a16="http://schemas.microsoft.com/office/drawing/2014/main" id="{A2BA7EA4-D8C9-B37F-30FD-16FF9DC38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0117" y="5189416"/>
            <a:ext cx="914400" cy="914400"/>
          </a:xfrm>
          <a:prstGeom prst="rect">
            <a:avLst/>
          </a:prstGeom>
        </p:spPr>
      </p:pic>
      <p:pic>
        <p:nvPicPr>
          <p:cNvPr id="15" name="Graphic 14" descr="Juggler outline">
            <a:extLst>
              <a:ext uri="{FF2B5EF4-FFF2-40B4-BE49-F238E27FC236}">
                <a16:creationId xmlns:a16="http://schemas.microsoft.com/office/drawing/2014/main" id="{692C0A76-7338-2BFE-EBEE-DCBAB01AED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1677" y="4968630"/>
            <a:ext cx="1254370" cy="125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1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/>
          <a:lstStyle/>
          <a:p>
            <a:r>
              <a:rPr lang="en-US" dirty="0"/>
              <a:t>Let’s discuss a scenario to do with access control!</a:t>
            </a:r>
          </a:p>
        </p:txBody>
      </p:sp>
      <p:pic>
        <p:nvPicPr>
          <p:cNvPr id="9" name="Picture Placeholder 8" descr="A group of people working on computers">
            <a:extLst>
              <a:ext uri="{FF2B5EF4-FFF2-40B4-BE49-F238E27FC236}">
                <a16:creationId xmlns:a16="http://schemas.microsoft.com/office/drawing/2014/main" id="{08B0FE67-3571-D73C-B5B6-9E19F8A9E3F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1999" cy="4728526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FormFusion">
  <a:themeElements>
    <a:clrScheme name="Retro Form Fusio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7E9A8"/>
      </a:accent1>
      <a:accent2>
        <a:srgbClr val="C02C0D"/>
      </a:accent2>
      <a:accent3>
        <a:srgbClr val="C9A7E8"/>
      </a:accent3>
      <a:accent4>
        <a:srgbClr val="242C40"/>
      </a:accent4>
      <a:accent5>
        <a:srgbClr val="D90C65"/>
      </a:accent5>
      <a:accent6>
        <a:srgbClr val="3C5569"/>
      </a:accent6>
      <a:hlink>
        <a:srgbClr val="169C9A"/>
      </a:hlink>
      <a:folHlink>
        <a:srgbClr val="E15C3D"/>
      </a:folHlink>
    </a:clrScheme>
    <a:fontScheme name="Custom 44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 form fusion_Marketing Presentation_win32_SD_V6" id="{1B74A257-43A2-48DC-AABC-425ADD1BD4C0}" vid="{0AB9CF50-3A4C-496A-BE11-F38E096BD9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purl.org/dc/dcmitype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{4009BDAE-E34A-46BE-87E9-BCC220D955B8}3b1ee2c4-488f-4f6f-879d-8700a6d4fc2b-TF68a6f5d8-383f-4bee-98cb-6033b297636b_win32</Template>
  <TotalTime>46</TotalTime>
  <Words>913</Words>
  <Application>Microsoft Office PowerPoint</Application>
  <PresentationFormat>Widescreen</PresentationFormat>
  <Paragraphs>116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Franklin Gothic Book</vt:lpstr>
      <vt:lpstr>Franklin Gothic Demi</vt:lpstr>
      <vt:lpstr>RetroFormFusion</vt:lpstr>
      <vt:lpstr>Access Control</vt:lpstr>
      <vt:lpstr>The Problem</vt:lpstr>
      <vt:lpstr>What is it?</vt:lpstr>
      <vt:lpstr>Access Control Types</vt:lpstr>
      <vt:lpstr>DAC (Discretionary Access Control)</vt:lpstr>
      <vt:lpstr>NDAC (Non-Discretionary Access Control)</vt:lpstr>
      <vt:lpstr>IAM (Identity and Access Management)</vt:lpstr>
      <vt:lpstr>Comparison</vt:lpstr>
      <vt:lpstr>Authentication</vt:lpstr>
      <vt:lpstr>Authentication</vt:lpstr>
      <vt:lpstr>Scenario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Mok (24790172)</dc:creator>
  <cp:lastModifiedBy>Victoria Mok (24790172)</cp:lastModifiedBy>
  <cp:revision>1</cp:revision>
  <dcterms:created xsi:type="dcterms:W3CDTF">2026-03-30T14:24:22Z</dcterms:created>
  <dcterms:modified xsi:type="dcterms:W3CDTF">2026-03-30T15:10:31Z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